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 · 30s]
Silencio de abertura. Nome, o que voce faz, e por que esta aula existe: o livro so funciona se for usado. Esta aula garante que ele seja.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[00:30 · 30s]
Leia o subtitulo em voz alta. Esta aula nao resume o livro: ensina a opera-lo.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[01:00 · 1min30s]
Espere de verdade eles abrirem. Se ninguem abrir, a aula vira palestra e a entrega nao acontece. Confira em voz alta item por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 · 1min30s]
Mapa mental da aula. Mostre que os capitulos 1 a 3 sao preparo, e que a entrega comeca no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[04:00 · 20s]
Capitulos 01 a 03 do livro, condensados no que muda a pratica.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[04:20 · 1min20s]
Frase-chave do livro. Diga devagar. Tudo o que vem depois se apoia nela.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[05:40 · 1min50s]
Se houver tela, faca os dois pedidos AO VIVO no ChatGPT. O contraste e o argumento mais forte da aula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[07:30 · 1min30s]
Capitulo 02. O limite de memoria e o que mais faz aluno perder trabalho. Avise agora, antes de eles comecarem.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[09:00 · 20s]
Capitulo 03 do livro. O bloco mais importante da aula. Avise que vale anotar.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[09:20 · 1min40s]
Mostre o ciclo inteiro antes de detalhar. Eles precisam ver o desenho completo para entender por que nao se pula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· 1min40s]
Abra o livro fisico na camera, se houver. O aluno precisa reconhecer a pagina que vai procurar sozinho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[12:40 · 1min20s]
Escreva os dois nomes no quadro ou no chat. Este slide evita 80% dos problemas que eles teriam sozinhos.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· 20s]
Fim da teoria. Aqui eles pegam o celular. Anuncie: vamos fazer juntos,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[14:20 · 1min40s]
A FICHA. Este e o formato que se repete em todos os capitulos. Explique a leitura da ficha uma vez, com calma: esquerda e o conteudo, direita sao os acessos. Depois disso, as outras fichas correm rapido.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· 4min]
EXERCICIO AO VIVO. Cronometre 3 minutos de silencio real para responderem as tres primeiras. Nao fale durante. Depois peca um voluntario para ler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 · 1min40s]
Exemplo do medico, do Capitulo 04. Use para corrigir ao vivo a resposta do voluntario: mostre como aprofundar uma frase rasa.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[21:40 · 2min20s]
ERRO NUMERO UM. Repita duas vezes: atalho primeiro, respostas depois. Se houver tela, mostre o atalho ao vivo dentro do agente.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[24:00 · 2min]
Mostre um relatorio de verdade. Ver o formato do retorno tira a ansiedade e e o que mais convence de que o metodo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· 20s]
Avise: as proximas telas sao o mapa de cada capitulo. Peca para fotografarem ou dizer que o PDF vai junto com o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[26:20 · 1min40s]
Sem o relatorio anterior, o agente seguinte trabalha cego. E por isso que a ordem importa e nao se pula capitulo.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· 2min]
A pergunta 7 e a mais dificil e a mais valiosa: do que voce renuncia.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· 2min]
Este e o capitulo que mais muda o Instagram do aluno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· 2min]
Peca que listem TUDO na pergunta 1, mesmo o desatualizado. E ali que aparece o que precisa ser cortado.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· 2min]
Se o aluno for refazer a identidade visual, o relatorio deste capitulo e o briefing que ele leva ao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[36:00 · 2min]
Este relatorio costuma virar a bio do Instagram e a abertura da proposta comercial. Diga isso — aumenta a percepcao de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[38:00 · 2min]
Ultima ficha antes do Brand Book. Reforce que so faltam os relatorios reunidos para o documento final sair.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[40:00 · 20s]
O destino. Aqui tudo o que eles fizeram vira um documento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[40:20 · 2min]
Note que este capitulo nao tem Google Docs: nao ha perguntas novas. O insumo sao os sete relatorios. Esse detalhe costuma confundir — explique.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[42:20 · 2min]
Mostre um Brand Book real. E a prova final de que o metodo entrega — e o que justifica o preco da aula e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[44:20 · 1min40s]
Peca para abrirem a agenda AGORA e marcarem os quatro blocos. Compromisso com data cumpre; intencao nao.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· 1min40s]
Recapitulacao operacional. Se eles lembrarem de um slide da aula, que seja este. Vale como imagem de recado no grupo depois.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[47:40 · 2min20s]
OFERTA. Preencher cupom, link e prazo antes de apresentar. Argumento central: o digital da acesso, o fisico sustenta o habito de escrever no livro — e o metodo depende de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· 1min]
Encerramento. Convide para postar uma foto com o livro e marcar @kellyalbert.brand. Abra para perguntas se o formato permitir.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768169"/>
            <a:ext cx="2926080" cy="75066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9006840" y="4576572"/>
            <a:ext cx="14630" cy="1133856"/>
          </a:xfrm>
          <a:prstGeom prst="rect">
            <a:avLst/>
          </a:prstGeom>
          <a:solidFill>
            <a:srgbClr val="1C1C1A"/>
          </a:solidFill>
          <a:ln/>
        </p:spPr>
      </p:sp>
      <p:pic>
        <p:nvPicPr>
          <p:cNvPr id="5" name="Image 2" descr="/home/user/Modelo_de_Apresentacao/assets/logos/kelly-albert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4867767"/>
            <a:ext cx="2926080" cy="5514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38935" y="3593592"/>
            <a:ext cx="1499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</a:t>
            </a:r>
            <a:endParaRPr lang="en-US" sz="7500" dirty="0"/>
          </a:p>
        </p:txBody>
      </p:sp>
      <p:sp>
        <p:nvSpPr>
          <p:cNvPr id="4" name="Text 1"/>
          <p:cNvSpPr txBox="1"/>
          <p:nvPr/>
        </p:nvSpPr>
        <p:spPr>
          <a:xfrm>
            <a:off x="1538935" y="4791456"/>
            <a:ext cx="1371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Aula</a:t>
            </a:r>
            <a:pPr indent="0" marL="0">
              <a:buNone/>
            </a:pPr>
            <a:r>
              <a:rPr lang="en-US" sz="3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| Como transformar o livro no Brand Book Vivo da sua marca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544422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sp>
        <p:nvSpPr>
          <p:cNvPr id="6" name="Shape 3"/>
          <p:cNvSpPr/>
          <p:nvPr/>
        </p:nvSpPr>
        <p:spPr>
          <a:xfrm>
            <a:off x="4764938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sp>
        <p:nvSpPr>
          <p:cNvPr id="7" name="Shape 4"/>
          <p:cNvSpPr/>
          <p:nvPr/>
        </p:nvSpPr>
        <p:spPr>
          <a:xfrm>
            <a:off x="7487107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sp>
        <p:nvSpPr>
          <p:cNvPr id="8" name="Shape 5"/>
          <p:cNvSpPr/>
          <p:nvPr/>
        </p:nvSpPr>
        <p:spPr>
          <a:xfrm>
            <a:off x="9694469" y="7790688"/>
            <a:ext cx="12802" cy="896112"/>
          </a:xfrm>
          <a:prstGeom prst="rect">
            <a:avLst/>
          </a:prstGeom>
          <a:solidFill>
            <a:srgbClr val="1C1C1A"/>
          </a:solidFill>
          <a:ln/>
        </p:spPr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8074152"/>
            <a:ext cx="2651760" cy="6802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83480" y="790041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Método 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Marca</a:t>
            </a:r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Essência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©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680960" y="7790688"/>
            <a:ext cx="1920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«MÊS/ANO»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COMEÇAR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Deixe estas quatro coisas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abertas agora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livro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Digital ou físico. Você vai escanear QR Codes a partir dele durante toda a aula.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100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816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celular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00816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a câmera pronta. É por ele que você acessa os documentos e os agentes.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432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1148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1148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ChatGPT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71148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Logado, no navegador ou no aplicativo. Os agentes vivem dentro dele.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27764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41480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41480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Uma pasta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41480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Drive ou no computador, chamada “Marca — IA com Essência”. Tudo será salvo ali.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04849" y="704088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04849" y="731520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Esta aula é para fazer junto, não para assistir. Você sai daqui com o Capítulo 04 concluído.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CAMINHO DE HOJE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Onze capítulos, um destino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65760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04849" y="49377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04849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515721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01 a 03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Entender a ferramenta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67505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67505" y="515721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é você no negócio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30161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30161" y="515721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 a 08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Posicionamento, voz,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arquitetura e forma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192817" y="48920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192817" y="515721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09 e 10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Promessa e presença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3155473" y="4892040"/>
            <a:ext cx="91440" cy="9144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155473" y="515721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04849" y="740664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04849" y="768096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Cada capítulo gera um relatório. O Capítulo 11 junta todos e devolve o documento oficial da sua marca.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DA IA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3108960"/>
            <a:ext cx="1325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01 · O PRINCÍPIO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3566160"/>
            <a:ext cx="13258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Essência não se replica.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não se terceiriza.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94360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6172200"/>
            <a:ext cx="1325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é um espelho matemático: devolve na mesma medida em que você a alimenta. Com confusão, devolve confusão. Com clareza, devolve precisão.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8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1031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COMO A IA PENSA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606040"/>
            <a:ext cx="1371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é sobre saber usar tecnologia.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sobre saber pedir com intenção.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66344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8437169" y="5074920"/>
            <a:ext cx="14630" cy="310896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50749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PEDIDO GENÉRICO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49554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“Quero uma ideia de post.”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04849" y="64465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resposta vai ser qualquer coisa — porque qualquer coisa atende ao pedido.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50749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PEDIDO COM CONTEXTO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49554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“Quero uma ideia de post para minha cafeteria artesanal, que valoriza pequenos produtores, para quem busca experiência e não preço.”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985809" y="64465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resposta muda por completo. O contexto não é enfeite: é o que produz precisão.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5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1031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PRECISA VIGIAR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60604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não tem critério.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critério é seu.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457200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983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Alucinação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45896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inventa informação falsa com total confiança. Sempre peça as fontes.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1009" y="4983480"/>
            <a:ext cx="14630" cy="20116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8169" y="4983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Viés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545896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Ela repete preconceitos que estavam nos dados com que foi treinada.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574329" y="4983480"/>
            <a:ext cx="14630" cy="20116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11489" y="4983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Desconexão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711489" y="545896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texto fica bonito, mas não tem nada a ver com a sua marca real.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277649" y="4983480"/>
            <a:ext cx="14630" cy="20116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14809" y="4983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 de memória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2414809" y="5458968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Conversa longa começa a esquecer ou inventar. Quando notar, abra um chat novo.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304849" y="740664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04849" y="768096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 isso, no método, quem valida o relatório é sempre você.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10312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CICLO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60604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Cinco passos, repetidos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 cada capítulo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1304849" y="557784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04849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579729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 · Ler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capítulo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67505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67505" y="579729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 · Ouvir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áudio no Spotify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30161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30161" y="579729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 · Responder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Google Docs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192817" y="553212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192817" y="579729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 · Processar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agente de IA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3155473" y="5532120"/>
            <a:ext cx="91440" cy="9144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155473" y="5797296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 · Salvar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relatório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04849" y="777240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304849" y="804672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Nenhum passo é opcional. O relatório de cada capítulo é o insumo do capítulo seguinte.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ONDE FICA CADA COISA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anatomia de um capítulo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657600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04849" y="3977640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1788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173529" y="4123944"/>
            <a:ext cx="868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texto do capítulo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2173529" y="4489704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conceito, com exemplos reais.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04849" y="4764024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04849" y="4965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73529" y="4910328"/>
            <a:ext cx="868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QR do áudio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2173529" y="527608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fim do texto. Leva ao episódio no Spotify.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04849" y="5550408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4849" y="5751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173529" y="5696712"/>
            <a:ext cx="868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página RESPONDA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2173529" y="606247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As perguntas do capítulo, impressas para você ler antes.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304849" y="6336792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04849" y="6537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173529" y="6483096"/>
            <a:ext cx="868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QR do Google Docs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2173529" y="6848856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Abre o arquivo onde você responde de verdade.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304849" y="7123176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04849" y="73243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173529" y="7269480"/>
            <a:ext cx="868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QR do agente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2173529" y="763524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Abre o consultor de IA daquele capítulo, no ChatGPT.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304849" y="7909560"/>
            <a:ext cx="96926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8560" y="2103120"/>
            <a:ext cx="5669280" cy="6400800"/>
          </a:xfrm>
          <a:prstGeom prst="roundRect">
            <a:avLst>
              <a:gd name="adj" fmla="val 3226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11704320" y="5029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da página final de um capítulo do livro,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mostrando os dois QR Codes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0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REGRA QUE SALVA O MÉTODO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Dois arquivos por capítulo,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 o nome exato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8437169" y="4434840"/>
            <a:ext cx="14630" cy="310896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43484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ARQUIVO 1 · SUAS RESPOSTAS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485546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 – Perguntas e Respostas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80644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o Google Docs que você preencheu. Salve na pasta da sua marca, sem renomear de outro jeito.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43484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ARQUIVO 2 · O RETORNO DO AGENTE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485546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Relatório/Diagnóstico – Capítulo 04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80644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É o que o agente devolveu. Este é o arquivo que você vai anexar em todos os capítulos seguintes.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786384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13816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nomenclatura não é burocracia: é o que faz o efeito acumulado funcionar lá na frente.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 AO VIVO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Autoimagem Estratégica: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é você no seu negócio?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posicionar uma marca, é preciso posicionar quem está por trás dela. Se a liderança está confusa, a comunicação será confusa.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Responde 7 perguntas sobre a sua história e o seu papel no negócio.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Recebe o primeiro diagnóstico da sua marca.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23137" y="699516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88897" y="6876288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Gera o relatório que sustenta todos os capítulos seguintes.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Este é o único capítulo em que você não anexa nada além das suas respostas.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0" name="Image 0" descr="/home/user/Modelo_de_Apresentacao/assets/qr/cap4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04, no Spotify.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5" name="Image 1" descr="/home/user/Modelo_de_Apresentacao/assets/qr/cap4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04 – Perguntas e Respostas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30" name="Image 2" descr="/home/user/Modelo_de_Apresentacao/assets/qr/cap4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04</a:t>
            </a:r>
            <a:endParaRPr lang="en-US" sz="1500" dirty="0"/>
          </a:p>
        </p:txBody>
      </p:sp>
      <p:sp>
        <p:nvSpPr>
          <p:cNvPr id="32" name="Shape 27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4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RESPONDER NO GOOGLE DOCS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286000"/>
            <a:ext cx="1188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As 7 perguntas do Capítulo 04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04849" y="3657600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04849" y="3977640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04849" y="41788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173529" y="4123944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Quais momentos da sua história moldaram quem você é como empresário?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304849" y="4654296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04849" y="485546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173529" y="480060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características da sua personalidade aparecem no seu negócio?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304849" y="5330952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55321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73529" y="5477256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Qual papel você mais exerce — e qual você evita assumir?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304849" y="6007608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04849" y="62087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173529" y="6153912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decisões você percebe que costuma repetir ao longo do tempo?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304849" y="6684264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304849" y="68854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173529" y="6830568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 influências da sua história afetam o jeito como você toca o negócio?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1304849" y="7360920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04849" y="7562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06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173529" y="7507224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já está mudando em você, mas ainda não apareceu na marca?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304849" y="8037576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304849" y="82387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07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73529" y="818388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hoje já não combina mais com você — e não deve mais ser da marca?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1304849" y="8714232"/>
            <a:ext cx="111556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4264640" y="38404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PARA RESPONDER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4264640" y="420624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30" name="Image 0" descr="/home/user/Modelo_de_Apresentacao/assets/qr/cap4-d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0" y="4297680"/>
            <a:ext cx="2011680" cy="20116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264640" y="652881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Abre o Google Docs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Capítulo 04.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4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QUALIDADE DA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Resposta rasa gera diagnóstico raso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74904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8437169" y="4160520"/>
            <a:ext cx="14630" cy="310896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1605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RASO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458114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“Sou clínico geral.”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304849" y="5532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Correto, mas não comunica nada além do básico. No meio de milhares de médicos, fica invisível.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985809" y="416052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PROFUNDO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85809" y="4581144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“Ajudo famílias a manterem a saúde ao longo do tempo, prevenindo e cuidando com proximidade.”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985809" y="5532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História, diferencial real e essência revelada. Não é inventar um título: é nomear o que já estava ali.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04849" y="77541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725473" y="7863840"/>
            <a:ext cx="1329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IA é um espelho estratégico — não um terapeuta. Ela não cria a sua verdade: devolve com nitidez o que você já disse.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6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4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LEVAR PARA O AGENTE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 do Capítulo 04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04849" y="3657600"/>
            <a:ext cx="87782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Shape 4"/>
          <p:cNvSpPr/>
          <p:nvPr/>
        </p:nvSpPr>
        <p:spPr>
          <a:xfrm>
            <a:off x="1323137" y="41422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88897" y="4023360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Escaneie o QR e abra o agente no ChatGPT.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23137" y="480060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4681728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primeiro no atalho que aparece dentro dele.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545896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5340096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Só então cole ou anexe suas perguntas e respostas.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23137" y="611733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88897" y="5998464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Confira: o agente é o do Capítulo 04, igual às suas respostas.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04849" y="685800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04849" y="71323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Colar antes de clicar no atalho é o erro número um. O agente responde — mas responde genérico.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0" y="22860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AGENTE DO CAP. 04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24160" y="265176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4-ag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2743200"/>
            <a:ext cx="2011680" cy="20116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424160" y="497433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Agente KA · Cap. 04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Autoimagem Estratégica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13716000" y="2651760"/>
            <a:ext cx="3291840" cy="4937760"/>
          </a:xfrm>
          <a:prstGeom prst="roundRect">
            <a:avLst>
              <a:gd name="adj" fmla="val 5556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14081760" y="48463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da tela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agente aberto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ChatGPT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Passo 5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828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VOLTA E O QUE FAZER COM ISSO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304849" y="22860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relatório é o ativo —</a:t>
            </a:r>
            <a:endParaRPr lang="en-US" sz="3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a conversa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1304849" y="4206240"/>
            <a:ext cx="877824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4480560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ANTES DE ACEITAR, PERGUNTE-SE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323137" y="505663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88897" y="4937760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Isso é verdade sobre a minha marca, ou só soa bem?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571500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88897" y="5596128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Eu sustento essa promessa na próxima segunda-feira?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637336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8897" y="6254496"/>
            <a:ext cx="8394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Há alguma afirmação aqui que eu não reconheço como minha?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849" y="713232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4849" y="74066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Relatório/Diagnóstico – Capítulo 04. Este arquivo vai com você até o Capítulo 11.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0698480" y="2194560"/>
            <a:ext cx="6309360" cy="5760720"/>
          </a:xfrm>
          <a:prstGeom prst="roundRect">
            <a:avLst>
              <a:gd name="adj" fmla="val 3175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11064240" y="48006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de um relatório real devolvido pelo agente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(pode ser o seu, anonimizado)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CAMINHO COMPLETO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REGRA QUE MUDA TUDO A PARTIR DAQUI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Do Capítulo 05 em diante, você sempre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anexa os relatórios anteriores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53949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0484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4849" y="56144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04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suas respostas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7372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773729" y="56144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05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 04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4260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42609" y="56144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06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relatórios 04-05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71148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11489" y="56144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07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relatórios 04-06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180369" y="5349240"/>
            <a:ext cx="91440" cy="91440"/>
          </a:xfrm>
          <a:prstGeom prst="ellipse">
            <a:avLst/>
          </a:prstGeom>
          <a:solidFill>
            <a:srgbClr val="A5A49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80369" y="56144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08 a 10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+ tudo o que veio antes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649249" y="5349240"/>
            <a:ext cx="91440" cy="9144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649249" y="5614416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Cap. 11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todos os relatórios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304849" y="768096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304849" y="795528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Cada agente vai “lembrando” do que já foi construído. É um quebra-cabeça: cada peça tem valor, mas só o conjunto forma a imagem da sua marca.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05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 Claro: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lugar da sua marca no mundo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Toda marca já ocupa um lugar. A diferença é se esse lugar foi escolhido por você ou pelo mercado.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Nomeia o território que sua marca já ocupa sem ter declarado.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Define o que você precisa ter coragem de renunciar.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 Relatório do Capítulo 04.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5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05, no Spotify.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3" name="Image 1" descr="/home/user/Modelo_de_Apresentacao/assets/qr/cap5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05 – Perguntas e Respostas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8" name="Image 2" descr="/home/user/Modelo_de_Apresentacao/assets/qr/cap5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05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06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Personalidade e Voz: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linguagem viva da sua marca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Sua marca já fala. A pergunta é se ela está dizendo o que você realmente acredita — ou copiando quem grita mais alto.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Define o tom, o vocabulário e o ritmo da sua marca.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Lista as palavras que combinam e as que nunca combinariam.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e 05.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6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06, no Spotify.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3" name="Image 1" descr="/home/user/Modelo_de_Apresentacao/assets/qr/cap6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06 – Perguntas e Respostas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8" name="Image 2" descr="/home/user/Modelo_de_Apresentacao/assets/qr/cap6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06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07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Arquitetura de Marca: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clareza estrutural para crescer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 a estrutura que organiza suas ofertas for confusa, o crescimento será sempre limitado. O cliente que não entende, desiste.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Lista tudo o que você oferece hoje, inclusive o que já não faz sentido.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Organiza o portfólio em três níveis: entrada, meio e topo.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04, 05 e 06.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7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07, no Spotify.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3" name="Image 1" descr="/home/user/Modelo_de_Apresentacao/assets/qr/cap7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07 – Perguntas e Respostas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8" name="Image 2" descr="/home/user/Modelo_de_Apresentacao/assets/qr/cap7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07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08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Expressão Visual com Propósito: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identidade visual que comunica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Forma sem verdade gera maquiagem. Verdade sem forma gera invisibilidade. A força da marca nasce da coerência entre as duas.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Avalia se a estética atual representa quem você é de verdade.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Nomeia as sensações que a marca precisa despertar de imediato.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a 07.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8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08, no Spotify.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3" name="Image 1" descr="/home/user/Modelo_de_Apresentacao/assets/qr/cap8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08 – Perguntas e Respostas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8" name="Image 2" descr="/home/user/Modelo_de_Apresentacao/assets/qr/cap8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08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09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Posicionamento na Prática: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proposta de valor e narrativa central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 proposta, não há foco. Sem narrativa, não há alma. A promessa é um contrato simbólico — não um slogan.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Escreve a proposta de valor em uma frase clara, relevante e específica.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 por que a marca nasceu e o que ela defende.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a 08.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9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09, no Spotify.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3" name="Image 1" descr="/home/user/Modelo_de_Apresentacao/assets/qr/cap9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09 – Perguntas e Respostas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8" name="Image 2" descr="/home/user/Modelo_de_Apresentacao/assets/qr/cap9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09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10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Presença e Comunicação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Estratégica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Comunicação não é só rede social. É o atendimento, o e-mail, o contrato, a postura numa reunião. O cliente não separa: ele sente o todo.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Mapeia todos os pontos em que a marca aparece hoje.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Decide o que reforçar e o que a marca não vai mais dizer.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junto: os Relatórios dos Capítulos 04 a 09.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18" name="Image 0" descr="/home/user/Modelo_de_Apresentacao/assets/qr/cap10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10, no Spotify.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RESPONDA AS PERGUNTAS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3" name="Image 1" descr="/home/user/Modelo_de_Apresentacao/assets/qr/cap10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Salve como: Capítulo 10 – Perguntas e Respostas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1521440" y="61356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11521440" y="63550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1521440" y="66659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8" name="Image 2" descr="/home/user/Modelo_de_Apresentacao/assets/qr/cap10-agen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0" y="6757416"/>
            <a:ext cx="1280160" cy="128016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521440" y="82387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atalho, depois anexe. Salve: Relatório/Diagnóstico – Cap. 10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32" name="Image 3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539850"/>
            <a:ext cx="16230600" cy="7494422"/>
          </a:xfrm>
          <a:prstGeom prst="roundRect">
            <a:avLst>
              <a:gd name="adj" fmla="val 5124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05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4343400"/>
            <a:ext cx="1371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66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737360" y="5666232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Shape 4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9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 11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16916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e Diagnóstico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 Marca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04849" y="3063240"/>
            <a:ext cx="93268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333756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ESTE CAPÍTULO REVELA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370332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é um PDF morto. É a chama acesa da sua identidade — um documento vivo, feito com você, por você, a partir das suas próprias respostas.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FAZ AQUI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323137" y="578815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688897" y="5669280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Reúne os relatórios dos Capítulos 04 a 10 em um só documento.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23137" y="639165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688897" y="6272784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Organiza o que sua marca é, entrega, promete e como se comunica.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23137" y="699516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688897" y="6876288"/>
            <a:ext cx="8942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Permite atualizar sempre que a marca evoluir.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304849" y="8092440"/>
            <a:ext cx="82296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04849" y="833932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Anexe todos os sete relatórios de uma vez. Salve como: Brand Book + nome da marca + data.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881360" y="1325880"/>
            <a:ext cx="14630" cy="731520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521440" y="11064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13258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OUÇA O ÁUDIO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1521440" y="16367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0" name="Image 0" descr="/home/user/Modelo_de_Apresentacao/assets/qr/cap11-a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0" y="1728216"/>
            <a:ext cx="1280160" cy="12801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1521440" y="32095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Episódio do Capítulo 11, no Spotify.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0" y="362102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521440" y="384048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PROCESSE NO AGENTE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11521440" y="4151376"/>
            <a:ext cx="1463040" cy="1463040"/>
          </a:xfrm>
          <a:prstGeom prst="roundRect">
            <a:avLst>
              <a:gd name="adj" fmla="val 10000"/>
            </a:avLst>
          </a:prstGeom>
          <a:solidFill>
            <a:srgbClr val="F8F7F2"/>
          </a:solidFill>
          <a:ln w="12700">
            <a:solidFill>
              <a:srgbClr val="E2E1DD"/>
            </a:solidFill>
            <a:prstDash val="solid"/>
          </a:ln>
        </p:spPr>
      </p:sp>
      <p:pic>
        <p:nvPicPr>
          <p:cNvPr id="25" name="Image 1" descr="/home/user/Modelo_de_Apresentacao/assets/qr/cap11-ag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0" y="4242816"/>
            <a:ext cx="1280160" cy="128016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1521440" y="5724144"/>
            <a:ext cx="4892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Clique no atalho e anexe os sete relatórios.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9" name="Image 2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VOCÊ TEM NO FIM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188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primeiro documento oficial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 sua marca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996696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23137" y="450799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88897" y="4389120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sua marca é, entrega e promete.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3137" y="518464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88897" y="5065776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Como ela se comunica, em qualquer ponto de contato.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5861304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88897" y="5742432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critério para avaliar cada nova ação: isso é coerente?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653796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8897" y="6419088"/>
            <a:ext cx="95829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documento que se atualiza quando a marca evolui.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849" y="731520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04849" y="75895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para arquivar. Para usar, para ensinar a equipe e para sustentar a marca quando a operação acelera.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1795760" y="2103120"/>
            <a:ext cx="5212080" cy="6309360"/>
          </a:xfrm>
          <a:prstGeom prst="roundRect">
            <a:avLst>
              <a:gd name="adj" fmla="val 3509"/>
            </a:avLst>
          </a:prstGeom>
          <a:solidFill>
            <a:srgbClr val="F8F7F2"/>
          </a:solidFill>
          <a:ln w="15875">
            <a:solidFill>
              <a:srgbClr val="A5A49F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12161520" y="4983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print da capa ou 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uma página de um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gerado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RITMO QUE FUNCIONA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Quatro semanas até o seu</a:t>
            </a:r>
            <a:endParaRPr lang="en-US" sz="4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Brand Book Vivo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402336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0484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1 a 4. Termine a Autoimagem Estratégica que você começou aqui.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7100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0816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0816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00816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5 e 6. Posicionamento e voz — o par que mais muda a comunicação.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432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1148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71148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71148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7 e 8. Arquitetura e expressão visual.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277649" y="4434840"/>
            <a:ext cx="14630" cy="210312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414809" y="4434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04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2414809" y="478231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Semana 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2414809" y="5257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Capítulos 9, 10 e 11. Proposta, presença e o Brand Book.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04849" y="704088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04849" y="7315200"/>
            <a:ext cx="1371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Um capítulo por vez, sem pular. Quem tenta fazer tudo num fim de semana entrega respostas rasas — e recebe diagnóstico raso.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4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4849" y="173736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QUE FAZ O MÉTODO FALHAR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1304849" y="2240280"/>
            <a:ext cx="1280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4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Cinco erros — todos evitáveis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304849" y="3749040"/>
            <a:ext cx="1225296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5" name="Shape 3"/>
          <p:cNvSpPr/>
          <p:nvPr/>
        </p:nvSpPr>
        <p:spPr>
          <a:xfrm>
            <a:off x="1323137" y="4233672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88897" y="4114800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Pular etapas. Cada relatório é insumo do capítulo seguinte.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23137" y="4946904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88897" y="4828032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Não salvar os dois arquivos: as respostas e o relatório.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3137" y="5660136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88897" y="5541264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Aceitar o relatório sem validar o que está escrito.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3137" y="6373368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688897" y="6254496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Misturar capítulos: confira se o agente é o mesmo das respostas.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23137" y="7086600"/>
            <a:ext cx="68580" cy="68580"/>
          </a:xfrm>
          <a:prstGeom prst="ellipse">
            <a:avLst/>
          </a:prstGeom>
          <a:solidFill>
            <a:srgbClr val="A972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88897" y="6967728"/>
            <a:ext cx="118689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Colar as respostas antes de clicar no atalho dentro do agente.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304849" y="7498080"/>
            <a:ext cx="1097280" cy="36576"/>
          </a:xfrm>
          <a:prstGeom prst="rect">
            <a:avLst/>
          </a:prstGeom>
          <a:solidFill>
            <a:srgbClr val="A972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04849" y="7772400"/>
            <a:ext cx="1225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Nenhum deles é sobre inteligência. Todos são sobre método.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19" name="Image 0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8700" y="1371600"/>
            <a:ext cx="16230600" cy="7315200"/>
          </a:xfrm>
          <a:prstGeom prst="roundRect">
            <a:avLst>
              <a:gd name="adj" fmla="val 5250"/>
            </a:avLst>
          </a:prstGeom>
          <a:solidFill>
            <a:srgbClr val="F8F7F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1737360" y="2103120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PARA CONTINUAR A PARTIR DAQUI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1700784" y="2514600"/>
            <a:ext cx="1371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2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 livro na sua mão</a:t>
            </a:r>
            <a:endParaRPr lang="en-US" sz="5200" dirty="0"/>
          </a:p>
        </p:txBody>
      </p:sp>
      <p:sp>
        <p:nvSpPr>
          <p:cNvPr id="6" name="Shape 3"/>
          <p:cNvSpPr/>
          <p:nvPr/>
        </p:nvSpPr>
        <p:spPr>
          <a:xfrm>
            <a:off x="1737360" y="4114800"/>
            <a:ext cx="14813280" cy="1463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73736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Você já tem o livro digital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53492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Ele acompanha esta aula. Todos os QR Codes, links, agentes e documentos estão nele.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537960" y="4526280"/>
            <a:ext cx="14630" cy="24688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7512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02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30% de desconto no livro físico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3492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Quem fez esta aula leva a edição impressa com 30% de desconto.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Cupom: «INSERIR CUPOM»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1475720" y="4526280"/>
            <a:ext cx="14630" cy="2468880"/>
          </a:xfrm>
          <a:prstGeom prst="rect">
            <a:avLst/>
          </a:prstGeom>
          <a:solidFill>
            <a:srgbClr val="E2E1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61288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spc="210" kern="0" dirty="0">
                <a:solidFill>
                  <a:srgbClr val="A972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03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612880" y="48737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Por que ter o físico também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612880" y="53492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6B6B6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Este é um livro para ser escrito, marcado e riscado. O digital dá acesso; o físico sustenta o hábito.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786384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«INSERIR LINK DE COMPRA»   ·   Oferta válida até «INSERIR PRAZO»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38505" y="9379915"/>
            <a:ext cx="10386670" cy="494690"/>
          </a:xfrm>
          <a:prstGeom prst="roundRect">
            <a:avLst>
              <a:gd name="adj" fmla="val 49908"/>
            </a:avLst>
          </a:prstGeom>
          <a:solidFill>
            <a:srgbClr val="EFECDC">
              <a:alpha val="48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243584" y="9379915"/>
            <a:ext cx="9601200" cy="494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IA COM ESSÊNCIA · A AULA</a:t>
            </a:r>
            <a:pPr indent="0" marL="0">
              <a:buNone/>
            </a:pPr>
            <a:r>
              <a:rPr lang="en-US" sz="1700" spc="300" kern="0" dirty="0">
                <a:solidFill>
                  <a:srgbClr val="A5A49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|   </a:t>
            </a:r>
            <a:pPr indent="0" marL="0">
              <a:buNone/>
            </a:pPr>
            <a:r>
              <a:rPr lang="en-US" sz="17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KELLY ALBERT</a:t>
            </a:r>
            <a:endParaRPr lang="en-US" sz="1700" dirty="0"/>
          </a:p>
        </p:txBody>
      </p:sp>
      <p:pic>
        <p:nvPicPr>
          <p:cNvPr id="21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65654" y="9482328"/>
            <a:ext cx="2193646" cy="56276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delo_de_Apresentacao/assets/texturas/fundo-o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538935" y="4206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spc="300" kern="0" dirty="0">
                <a:solidFill>
                  <a:srgbClr val="1C1C1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AGORA É COM VOCÊ.</a:t>
            </a:r>
            <a:endParaRPr lang="en-US" sz="4800" dirty="0"/>
          </a:p>
        </p:txBody>
      </p:sp>
      <p:pic>
        <p:nvPicPr>
          <p:cNvPr id="4" name="Image 1" descr="/home/user/Modelo_de_Apresentacao/assets/logos/ka-marcas-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935" y="5486400"/>
            <a:ext cx="2194560" cy="56299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77640" y="5413248"/>
            <a:ext cx="12802" cy="713232"/>
          </a:xfrm>
          <a:prstGeom prst="rect">
            <a:avLst/>
          </a:prstGeom>
          <a:solidFill>
            <a:srgbClr val="1C1C1A"/>
          </a:solidFill>
          <a:ln/>
        </p:spPr>
      </p:sp>
      <p:pic>
        <p:nvPicPr>
          <p:cNvPr id="6" name="Image 2" descr="/home/user/Modelo_de_Apresentacao/assets/logos/kelly-albert-horizon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5532120"/>
            <a:ext cx="2194560" cy="41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KA Inteligencia para Marcas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com Essência — A Aula</dc:title>
  <dc:subject>PptxGenJS Presentation</dc:subject>
  <dc:creator>KA Inteligencia para Marcas</dc:creator>
  <cp:lastModifiedBy>KA Inteligencia para Marcas</cp:lastModifiedBy>
  <cp:revision>1</cp:revision>
  <dcterms:created xsi:type="dcterms:W3CDTF">2026-09-18T18:44:26Z</dcterms:created>
  <dcterms:modified xsi:type="dcterms:W3CDTF">2026-09-18T18:44:26Z</dcterms:modified>
</cp:coreProperties>
</file>